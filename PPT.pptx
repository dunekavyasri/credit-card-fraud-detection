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TextBox 5"/>
          <p:cNvSpPr txBox="1"/>
          <p:nvPr/>
        </p:nvSpPr>
        <p:spPr>
          <a:xfrm>
            <a:off x="713232" y="594360"/>
            <a:ext cx="502920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C9D91"/>
                </a:solidFill>
                <a:latin typeface="Aptos"/>
              </a:rPr>
              <a:t>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170432"/>
            <a:ext cx="6858000" cy="1508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303F3D"/>
                </a:solidFill>
                <a:latin typeface="Aptos"/>
              </a:rPr>
              <a:t>CREDIT CARD
FRAUD DETECTION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584448"/>
            <a:ext cx="10698480" cy="21488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794760"/>
            <a:ext cx="27432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69680"/>
                </a:solidFill>
                <a:latin typeface="Aptos"/>
              </a:rPr>
              <a:t>PROJECT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41732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6756F"/>
                </a:solidFill>
                <a:latin typeface="Aptos"/>
              </a:rPr>
              <a:t>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4160520"/>
            <a:ext cx="832104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03F3D"/>
                </a:solidFill>
                <a:latin typeface="Aptos"/>
              </a:rPr>
              <a:t>D. Kavyasri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44568"/>
            <a:ext cx="141732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6756F"/>
                </a:solidFill>
                <a:latin typeface="Aptos"/>
              </a:rPr>
              <a:t>ID / Roll 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4544568"/>
            <a:ext cx="832104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03F3D"/>
                </a:solidFill>
                <a:latin typeface="Aptos"/>
              </a:rPr>
              <a:t>236W1A0511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28616"/>
            <a:ext cx="141732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6756F"/>
                </a:solidFill>
                <a:latin typeface="Aptos"/>
              </a:rPr>
              <a:t>College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928616"/>
            <a:ext cx="832104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03F3D"/>
                </a:solidFill>
                <a:latin typeface="Aptos"/>
              </a:rPr>
              <a:t>International School of Technology and Science for Women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12664"/>
            <a:ext cx="141732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6756F"/>
                </a:solidFill>
                <a:latin typeface="Aptos"/>
              </a:rPr>
              <a:t>Project Title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5312664"/>
            <a:ext cx="832104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03F3D"/>
                </a:solidFill>
                <a:latin typeface="Aptos"/>
              </a:rPr>
              <a:t>Credit Card Fraud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4864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C9D91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303F3D"/>
                </a:solidFill>
                <a:latin typeface="Aptos"/>
              </a:rPr>
              <a:t>Abstract &amp; Keywords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713232" cy="64008"/>
          </a:xfrm>
          <a:prstGeom prst="rect">
            <a:avLst/>
          </a:prstGeom>
          <a:solidFill>
            <a:srgbClr val="E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6756F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00784"/>
            <a:ext cx="6720840" cy="443484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This project develops a machine learning classification model to identify whether a credit card transaction is genuine or fraudulent.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The dataset contains transaction details such as amount, merchant, transaction type, location, date and time.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The workflow includes data inspection, preprocessing, feature engineering, model training, evaluation and hyperparameter tuning.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The aim is to support the identification of suspicious transactions using patterns learned from historical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700784"/>
            <a:ext cx="3657600" cy="4251960"/>
          </a:xfrm>
          <a:prstGeom prst="roundRect">
            <a:avLst>
              <a:gd name="adj" fmla="val 14000"/>
            </a:avLst>
          </a:prstGeom>
          <a:solidFill>
            <a:srgbClr val="FAE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975104"/>
            <a:ext cx="306324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03F3D"/>
                </a:solidFill>
                <a:latin typeface="Aptos"/>
              </a:rPr>
              <a:t>KEYWORDS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670048"/>
            <a:ext cx="2971800" cy="297180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Credit Card Fraud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Machine Learning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Classification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Fraud Detection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Logistic Regression • KNN • SVM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Decision Tree • XGBoost • SMOTE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56F"/>
                </a:solidFill>
                <a:latin typeface="Aptos"/>
              </a:rPr>
              <a:t>CREDIT CARD FRAUD DETECTION  •  MACHINE LEARNING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4864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C9D91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303F3D"/>
                </a:solidFill>
                <a:latin typeface="Aptos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713232" cy="64008"/>
          </a:xfrm>
          <a:prstGeom prst="rect">
            <a:avLst/>
          </a:prstGeom>
          <a:solidFill>
            <a:srgbClr val="E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6756F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00784"/>
            <a:ext cx="6720840" cy="443484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Credit card transactions can contain fraudulent activities that need to be identified.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The objective is to build a classification model that predicts the target variable IsFraud.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Input transaction features are used to classify transactions into genuine (0) or fraudulent (1).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The model is evaluated using training accuracy, test accuracy and 5-fold cross-validation.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700784"/>
            <a:ext cx="3657600" cy="4251960"/>
          </a:xfrm>
          <a:prstGeom prst="roundRect">
            <a:avLst>
              <a:gd name="adj" fmla="val 14000"/>
            </a:avLst>
          </a:prstGeom>
          <a:solidFill>
            <a:srgbClr val="DCD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975104"/>
            <a:ext cx="306324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03F3D"/>
                </a:solidFill>
                <a:latin typeface="Aptos"/>
              </a:rPr>
              <a:t>PREDICTION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670048"/>
            <a:ext cx="2971800" cy="297180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0 — Genuine transaction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1 — Fraudulent transaction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Target column: IsFraud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56F"/>
                </a:solidFill>
                <a:latin typeface="Aptos"/>
              </a:rPr>
              <a:t>CREDIT CARD FRAUD DETECTION  •  MACHINE LEARNING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4864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C9D91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303F3D"/>
                </a:solidFill>
                <a:latin typeface="Aptos"/>
              </a:rPr>
              <a:t>Scope of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713232" cy="64008"/>
          </a:xfrm>
          <a:prstGeom prst="rect">
            <a:avLst/>
          </a:prstGeom>
          <a:solidFill>
            <a:srgbClr val="E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6756F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00784"/>
            <a:ext cx="6720840" cy="443484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Use transaction-level data to learn patterns associated with fraud.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Convert categorical and date/time information into machine-learning features.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Compare multiple classification algorithms using common evaluation measures.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Use hyperparameter tuning to improve model behaviour.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Provide a basis for automated transaction screening.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700784"/>
            <a:ext cx="3657600" cy="4251960"/>
          </a:xfrm>
          <a:prstGeom prst="roundRect">
            <a:avLst>
              <a:gd name="adj" fmla="val 14000"/>
            </a:avLst>
          </a:prstGeom>
          <a:solidFill>
            <a:srgbClr val="DA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975104"/>
            <a:ext cx="306324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03F3D"/>
                </a:solidFill>
                <a:latin typeface="Aptos"/>
              </a:rPr>
              <a:t>PROJECT 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670048"/>
            <a:ext cx="2971800" cy="297180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Transaction data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Feature preparation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Model comparison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Performance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56F"/>
                </a:solidFill>
                <a:latin typeface="Aptos"/>
              </a:rPr>
              <a:t>CREDIT CARD FRAUD DETECTION  •  MACHINE LEARNING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4864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C9D91"/>
                </a:solidFill>
                <a:latin typeface="Aptos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303F3D"/>
                </a:solidFill>
                <a:latin typeface="Aptos"/>
              </a:rPr>
              <a:t>Existing System &amp; Drawbacks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713232" cy="64008"/>
          </a:xfrm>
          <a:prstGeom prst="rect">
            <a:avLst/>
          </a:prstGeom>
          <a:solidFill>
            <a:srgbClr val="E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6756F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00784"/>
            <a:ext cx="6720840" cy="443484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Traditional fraud monitoring may rely on manually defined rules and transaction checks.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Such approaches may require frequent rule updates as transaction patterns change.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Large transaction volumes make continuous manual inspection difficult.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Class imbalance can make fraud detection difficult because fraudulent transactions are fewer than genuine transactions.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High accuracy alone can be misleading when the minority fraud class is missed.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700784"/>
            <a:ext cx="3657600" cy="4251960"/>
          </a:xfrm>
          <a:prstGeom prst="roundRect">
            <a:avLst>
              <a:gd name="adj" fmla="val 14000"/>
            </a:avLst>
          </a:prstGeom>
          <a:solidFill>
            <a:srgbClr val="FAE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975104"/>
            <a:ext cx="306324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03F3D"/>
                </a:solidFill>
                <a:latin typeface="Aptos"/>
              </a:rPr>
              <a:t>KEY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670048"/>
            <a:ext cx="2971800" cy="297180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Changing fraud patterns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Rule maintenance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Large transaction volumes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Imbalanced classes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56F"/>
                </a:solidFill>
                <a:latin typeface="Aptos"/>
              </a:rPr>
              <a:t>CREDIT CARD FRAUD DETECTION  •  MACHINE LEARNING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4864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C9D91"/>
                </a:solidFill>
                <a:latin typeface="Aptos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303F3D"/>
                </a:solidFill>
                <a:latin typeface="Aptos"/>
              </a:rPr>
              <a:t>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713232" cy="64008"/>
          </a:xfrm>
          <a:prstGeom prst="rect">
            <a:avLst/>
          </a:prstGeom>
          <a:solidFill>
            <a:srgbClr val="E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6756F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00784"/>
            <a:ext cx="6720840" cy="443484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Build a supervised machine learning classification pipeline using the transaction dataset.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Clean and inspect the data; verify duplicates and missing values.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Encode categorical columns and extract Year, Month, Day, DayOfWeek, Hour and Minute from date/time.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Split data into training and testing sets.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Compare Logistic Regression, KNN, SVM, Decision Tree and XGBoost.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Apply SMOTE to balance the modelling data and use GridSearchCV for selected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700784"/>
            <a:ext cx="3657600" cy="4251960"/>
          </a:xfrm>
          <a:prstGeom prst="roundRect">
            <a:avLst>
              <a:gd name="adj" fmla="val 14000"/>
            </a:avLst>
          </a:prstGeom>
          <a:solidFill>
            <a:srgbClr val="DCD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975104"/>
            <a:ext cx="306324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03F3D"/>
                </a:solidFill>
                <a:latin typeface="Aptos"/>
              </a:rPr>
              <a:t>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670048"/>
            <a:ext cx="2971800" cy="297180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Inspect data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Prepare features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Train models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Evaluate and tune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56F"/>
                </a:solidFill>
                <a:latin typeface="Aptos"/>
              </a:rPr>
              <a:t>CREDIT CARD FRAUD DETECTION  •  MACHINE LEARNING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4864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C9D91"/>
                </a:solidFill>
                <a:latin typeface="Aptos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303F3D"/>
                </a:solidFill>
                <a:latin typeface="Aptos"/>
              </a:rPr>
              <a:t>Advantages of the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713232" cy="64008"/>
          </a:xfrm>
          <a:prstGeom prst="rect">
            <a:avLst/>
          </a:prstGeom>
          <a:solidFill>
            <a:srgbClr val="E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6756F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00784"/>
            <a:ext cx="6720840" cy="443484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Uses transaction data and machine learning instead of relying only on fixed rules.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Multiple algorithms can be compared using the same evaluation measures.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Date/time feature engineering converts raw timestamps into useful numeric features.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Hyperparameter tuning is included for Logistic Regression, Decision Tree and XGBoost.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Cross-validation provides an additional estimate of model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700784"/>
            <a:ext cx="3657600" cy="4251960"/>
          </a:xfrm>
          <a:prstGeom prst="roundRect">
            <a:avLst>
              <a:gd name="adj" fmla="val 14000"/>
            </a:avLst>
          </a:prstGeom>
          <a:solidFill>
            <a:srgbClr val="DA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975104"/>
            <a:ext cx="306324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03F3D"/>
                </a:solidFill>
                <a:latin typeface="Aptos"/>
              </a:rPr>
              <a:t>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670048"/>
            <a:ext cx="2971800" cy="297180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Consistent comparison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Useful time-based features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Tuned models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Cross-validation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56F"/>
                </a:solidFill>
                <a:latin typeface="Aptos"/>
              </a:rPr>
              <a:t>CREDIT CARD FRAUD DETECTION  •  MACHINE LEARNING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4864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C9D91"/>
                </a:solidFill>
                <a:latin typeface="Aptos"/>
              </a:rPr>
              <a:t>DATA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303F3D"/>
                </a:solidFill>
                <a:latin typeface="Aptos"/>
              </a:rP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713232" cy="64008"/>
          </a:xfrm>
          <a:prstGeom prst="rect">
            <a:avLst/>
          </a:prstGeom>
          <a:solidFill>
            <a:srgbClr val="E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6756F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00784"/>
            <a:ext cx="6720840" cy="443484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Dataset size: 1,001 rows × 8 original columns.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Original columns: TransactionID, TransactionDate, TransactionTime, Amount, MerchantID, TransactionType, Location and IsFraud.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Missing values: 0 in every original column; duplicate rows: 0.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Class distribution: 934 genuine transactions (0) and 67 fraud transactions (1).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After SMOTE: 400 class-0 and 400 class-1 samples.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700784"/>
            <a:ext cx="3657600" cy="4251960"/>
          </a:xfrm>
          <a:prstGeom prst="roundRect">
            <a:avLst>
              <a:gd name="adj" fmla="val 14000"/>
            </a:avLst>
          </a:prstGeom>
          <a:solidFill>
            <a:srgbClr val="FAE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975104"/>
            <a:ext cx="306324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03F3D"/>
                </a:solidFill>
                <a:latin typeface="Aptos"/>
              </a:rPr>
              <a:t>DATA SNAPSHOT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670048"/>
            <a:ext cx="2971800" cy="297180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1,001 transactions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8 original columns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934 genuine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67 fraudulent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800 samples after SMOTE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56F"/>
                </a:solidFill>
                <a:latin typeface="Aptos"/>
              </a:rPr>
              <a:t>CREDIT CARD FRAUD DETECTION  •  MACHINE LEARNING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4864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C9D91"/>
                </a:solidFill>
                <a:latin typeface="Aptos"/>
              </a:rPr>
              <a:t>DATA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303F3D"/>
                </a:solidFill>
                <a:latin typeface="Aptos"/>
              </a:rPr>
              <a:t>Methodology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713232" cy="64008"/>
          </a:xfrm>
          <a:prstGeom prst="rect">
            <a:avLst/>
          </a:prstGeom>
          <a:solidFill>
            <a:srgbClr val="E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6756F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2331720" cy="960120"/>
          </a:xfrm>
          <a:prstGeom prst="roundRect">
            <a:avLst>
              <a:gd name="adj" fmla="val 14000"/>
            </a:avLst>
          </a:prstGeom>
          <a:solidFill>
            <a:srgbClr val="DA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11679"/>
            <a:ext cx="41148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C9D91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201168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03F3D"/>
                </a:solidFill>
                <a:latin typeface="Aptos"/>
              </a:rPr>
              <a:t>Load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1528" y="2176272"/>
            <a:ext cx="32004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E69680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874519"/>
            <a:ext cx="2331720" cy="960120"/>
          </a:xfrm>
          <a:prstGeom prst="roundRect">
            <a:avLst>
              <a:gd name="adj" fmla="val 14000"/>
            </a:avLst>
          </a:prstGeom>
          <a:solidFill>
            <a:srgbClr val="FAE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2011679"/>
            <a:ext cx="41148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C9D91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331720"/>
            <a:ext cx="201168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03F3D"/>
                </a:solidFill>
                <a:latin typeface="Aptos"/>
              </a:rPr>
              <a:t>EDA &amp;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6168" y="2176272"/>
            <a:ext cx="32004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E6968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874519"/>
            <a:ext cx="2331720" cy="960120"/>
          </a:xfrm>
          <a:prstGeom prst="roundRect">
            <a:avLst>
              <a:gd name="adj" fmla="val 14000"/>
            </a:avLst>
          </a:prstGeom>
          <a:solidFill>
            <a:srgbClr val="DCD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011679"/>
            <a:ext cx="41148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C9D91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331720"/>
            <a:ext cx="201168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03F3D"/>
                </a:solidFill>
                <a:latin typeface="Aptos"/>
              </a:rPr>
              <a:t>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0808" y="2176272"/>
            <a:ext cx="32004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E6968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874519"/>
            <a:ext cx="2331720" cy="960120"/>
          </a:xfrm>
          <a:prstGeom prst="roundRect">
            <a:avLst>
              <a:gd name="adj" fmla="val 14000"/>
            </a:avLst>
          </a:prstGeom>
          <a:solidFill>
            <a:srgbClr val="F4D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54312" y="2011679"/>
            <a:ext cx="41148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C9D91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4312" y="2331720"/>
            <a:ext cx="201168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03F3D"/>
                </a:solidFill>
                <a:latin typeface="Aptos"/>
              </a:rPr>
              <a:t>Feature Engineering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74720"/>
            <a:ext cx="2331720" cy="960120"/>
          </a:xfrm>
          <a:prstGeom prst="roundRect">
            <a:avLst>
              <a:gd name="adj" fmla="val 14000"/>
            </a:avLst>
          </a:prstGeom>
          <a:solidFill>
            <a:srgbClr val="DA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611879"/>
            <a:ext cx="41148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C9D91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3931920"/>
            <a:ext cx="201168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03F3D"/>
                </a:solidFill>
                <a:latin typeface="Aptos"/>
              </a:rPr>
              <a:t>Train/Test Split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81528" y="3776472"/>
            <a:ext cx="32004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E69680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0440" y="3474720"/>
            <a:ext cx="2331720" cy="960120"/>
          </a:xfrm>
          <a:prstGeom prst="roundRect">
            <a:avLst>
              <a:gd name="adj" fmla="val 14000"/>
            </a:avLst>
          </a:prstGeom>
          <a:solidFill>
            <a:srgbClr val="FAE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85032" y="3611879"/>
            <a:ext cx="41148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C9D91"/>
                </a:solidFill>
                <a:latin typeface="Aptos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85032" y="3931920"/>
            <a:ext cx="201168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03F3D"/>
                </a:solidFill>
                <a:latin typeface="Aptos"/>
              </a:rPr>
              <a:t>Model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16168" y="3776472"/>
            <a:ext cx="32004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E69680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2331720" cy="960120"/>
          </a:xfrm>
          <a:prstGeom prst="roundRect">
            <a:avLst>
              <a:gd name="adj" fmla="val 14000"/>
            </a:avLst>
          </a:prstGeom>
          <a:solidFill>
            <a:srgbClr val="DCD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3611879"/>
            <a:ext cx="41148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5C9D91"/>
                </a:solidFill>
                <a:latin typeface="Aptos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3931920"/>
            <a:ext cx="2011680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303F3D"/>
                </a:solidFill>
                <a:latin typeface="Aptos"/>
              </a:rPr>
              <a:t>Evaluation &amp; Tuning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5623560"/>
            <a:ext cx="960120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6756F"/>
                </a:solidFill>
                <a:latin typeface="Aptos"/>
              </a:rPr>
              <a:t>A step-by-step process from raw transaction data to model evaluation.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56F"/>
                </a:solidFill>
                <a:latin typeface="Aptos"/>
              </a:rPr>
              <a:t>CREDIT CARD FRAUD DETECTION  •  MACHINE LEARNING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4864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C9D91"/>
                </a:solidFill>
                <a:latin typeface="Aptos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303F3D"/>
                </a:solidFill>
                <a:latin typeface="Aptos"/>
              </a:rPr>
              <a:t>Load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713232" cy="64008"/>
          </a:xfrm>
          <a:prstGeom prst="rect">
            <a:avLst/>
          </a:prstGeom>
          <a:solidFill>
            <a:srgbClr val="E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6756F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00784"/>
            <a:ext cx="6720840" cy="443484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Load the credit card transaction dataset into the notebook.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Dataset size: 1,001 rows × 8 original columns.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Columns include TransactionID, TransactionDate, TransactionTime, Amount, MerchantID, TransactionType, Location and IsFraud.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Target column: IsFraud (0 = genuine, 1 = fraud).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700784"/>
            <a:ext cx="3657600" cy="4251960"/>
          </a:xfrm>
          <a:prstGeom prst="roundRect">
            <a:avLst>
              <a:gd name="adj" fmla="val 14000"/>
            </a:avLst>
          </a:prstGeom>
          <a:solidFill>
            <a:srgbClr val="DA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975104"/>
            <a:ext cx="306324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03F3D"/>
                </a:solidFill>
                <a:latin typeface="Aptos"/>
              </a:rPr>
              <a:t>INPUT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670048"/>
            <a:ext cx="2971800" cy="297180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Transaction records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8 original features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IsFraud as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56F"/>
                </a:solidFill>
                <a:latin typeface="Aptos"/>
              </a:rPr>
              <a:t>CREDIT CARD FRAUD DETECTION  •  MACHINE LEARNING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4864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C9D91"/>
                </a:solidFill>
                <a:latin typeface="Aptos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303F3D"/>
                </a:solidFill>
                <a:latin typeface="Aptos"/>
              </a:rPr>
              <a:t>EDA &amp;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713232" cy="64008"/>
          </a:xfrm>
          <a:prstGeom prst="rect">
            <a:avLst/>
          </a:prstGeom>
          <a:solidFill>
            <a:srgbClr val="E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6756F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00784"/>
            <a:ext cx="6720840" cy="443484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Inspect dataset shape, column names, data types and sample records.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Check missing values: 0 in every original column.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Check duplicate rows: 0 duplicates found.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Class distribution: 934 genuine transactions and 67 fraudulent transactions.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700784"/>
            <a:ext cx="3657600" cy="4251960"/>
          </a:xfrm>
          <a:prstGeom prst="roundRect">
            <a:avLst>
              <a:gd name="adj" fmla="val 14000"/>
            </a:avLst>
          </a:prstGeom>
          <a:solidFill>
            <a:srgbClr val="FAE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975104"/>
            <a:ext cx="306324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03F3D"/>
                </a:solidFill>
                <a:latin typeface="Aptos"/>
              </a:rPr>
              <a:t>DATA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670048"/>
            <a:ext cx="2971800" cy="297180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Missing values: 0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Duplicate rows: 0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Genuine: 934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Fraud: 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56F"/>
                </a:solidFill>
                <a:latin typeface="Aptos"/>
              </a:rPr>
              <a:t>CREDIT CARD FRAUD DETECTION  •  MACHINE LEARNING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4864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C9D91"/>
                </a:solidFill>
                <a:latin typeface="Aptos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303F3D"/>
                </a:solidFill>
                <a:latin typeface="Aptos"/>
              </a:rPr>
              <a:t>Preprocessing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713232" cy="64008"/>
          </a:xfrm>
          <a:prstGeom prst="rect">
            <a:avLst/>
          </a:prstGeom>
          <a:solidFill>
            <a:srgbClr val="E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6756F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00784"/>
            <a:ext cx="6720840" cy="443484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Prepare the data for machine-learning models.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Encode categorical columns such as MerchantID, TransactionType and Location.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Check and organize date/time columns before feature extraction.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Keep IsFraud as the target variable for classification.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700784"/>
            <a:ext cx="3657600" cy="4251960"/>
          </a:xfrm>
          <a:prstGeom prst="roundRect">
            <a:avLst>
              <a:gd name="adj" fmla="val 14000"/>
            </a:avLst>
          </a:prstGeom>
          <a:solidFill>
            <a:srgbClr val="DCD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975104"/>
            <a:ext cx="306324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03F3D"/>
                </a:solidFill>
                <a:latin typeface="Aptos"/>
              </a:rPr>
              <a:t>PREPARATION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670048"/>
            <a:ext cx="2971800" cy="297180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Categorical encoding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Date/time organization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Target separation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56F"/>
                </a:solidFill>
                <a:latin typeface="Aptos"/>
              </a:rPr>
              <a:t>CREDIT CARD FRAUD DETECTION  •  MACHINE LEARNING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4864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C9D91"/>
                </a:solidFill>
                <a:latin typeface="Aptos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303F3D"/>
                </a:solidFill>
                <a:latin typeface="Aptos"/>
              </a:rPr>
              <a:t>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713232" cy="64008"/>
          </a:xfrm>
          <a:prstGeom prst="rect">
            <a:avLst/>
          </a:prstGeom>
          <a:solidFill>
            <a:srgbClr val="E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6756F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00784"/>
            <a:ext cx="6720840" cy="443484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Extract useful features from the transaction date and time.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Create Year, Month and Day features from TransactionDate.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Create DayOfWeek, Hour and Minute features from date/time information.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Use transaction amount and encoded categorical values as model inputs.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700784"/>
            <a:ext cx="3657600" cy="4251960"/>
          </a:xfrm>
          <a:prstGeom prst="roundRect">
            <a:avLst>
              <a:gd name="adj" fmla="val 14000"/>
            </a:avLst>
          </a:prstGeom>
          <a:solidFill>
            <a:srgbClr val="DA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975104"/>
            <a:ext cx="306324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03F3D"/>
                </a:solidFill>
                <a:latin typeface="Aptos"/>
              </a:rPr>
              <a:t>GENERATED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670048"/>
            <a:ext cx="2971800" cy="297180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Year • Month • Day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DayOfWeek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Hour • Minute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Amount and encoded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56F"/>
                </a:solidFill>
                <a:latin typeface="Aptos"/>
              </a:rPr>
              <a:t>CREDIT CARD FRAUD DETECTION  •  MACHINE LEARNING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4864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C9D91"/>
                </a:solidFill>
                <a:latin typeface="Aptos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303F3D"/>
                </a:solidFill>
                <a:latin typeface="Aptos"/>
              </a:rPr>
              <a:t>Train/Test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713232" cy="64008"/>
          </a:xfrm>
          <a:prstGeom prst="rect">
            <a:avLst/>
          </a:prstGeom>
          <a:solidFill>
            <a:srgbClr val="E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6756F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00784"/>
            <a:ext cx="6720840" cy="443484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Separate input features (X) from the target label (y = IsFraud).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Split the dataset into training and testing sets.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Use training data to fit models and test data to evaluate unseen transactions.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Apply resampling only to the training data to help avoid data leakage.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700784"/>
            <a:ext cx="3657600" cy="4251960"/>
          </a:xfrm>
          <a:prstGeom prst="roundRect">
            <a:avLst>
              <a:gd name="adj" fmla="val 14000"/>
            </a:avLst>
          </a:prstGeom>
          <a:solidFill>
            <a:srgbClr val="FAE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975104"/>
            <a:ext cx="306324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03F3D"/>
                </a:solidFill>
                <a:latin typeface="Aptos"/>
              </a:rPr>
              <a:t>DATA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670048"/>
            <a:ext cx="2971800" cy="297180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X = Input features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y = IsFraud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Training = Model fitting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Testing =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56F"/>
                </a:solidFill>
                <a:latin typeface="Aptos"/>
              </a:rPr>
              <a:t>CREDIT CARD FRAUD DETECTION  •  MACHINE LEARNING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4864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C9D91"/>
                </a:solidFill>
                <a:latin typeface="Aptos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303F3D"/>
                </a:solidFill>
                <a:latin typeface="Aptos"/>
              </a:rPr>
              <a:t>Model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713232" cy="64008"/>
          </a:xfrm>
          <a:prstGeom prst="rect">
            <a:avLst/>
          </a:prstGeom>
          <a:solidFill>
            <a:srgbClr val="E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6756F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00784"/>
            <a:ext cx="6720840" cy="443484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Train and compare multiple classification algorithms.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Algorithms: Logistic Regression, K-Nearest Neighbors (KNN), SVM, Decision Tree and XGBoost.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Use SMOTE to balance the training data: 400 class-0 and 400 class-1 samples after resampling.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Use GridSearchCV for selected models to tune hyperparameters.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700784"/>
            <a:ext cx="3657600" cy="4251960"/>
          </a:xfrm>
          <a:prstGeom prst="roundRect">
            <a:avLst>
              <a:gd name="adj" fmla="val 14000"/>
            </a:avLst>
          </a:prstGeom>
          <a:solidFill>
            <a:srgbClr val="DCD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975104"/>
            <a:ext cx="306324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03F3D"/>
                </a:solidFill>
                <a:latin typeface="Aptos"/>
              </a:rPr>
              <a:t>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670048"/>
            <a:ext cx="2971800" cy="297180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Logistic Regression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KNN • SVM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Decision Tree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XGBoost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SMOTE • GridSearchCV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56F"/>
                </a:solidFill>
                <a:latin typeface="Aptos"/>
              </a:rPr>
              <a:t>CREDIT CARD FRAUD DETECTION  •  MACHINE LEARNING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4864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C9D91"/>
                </a:solidFill>
                <a:latin typeface="Aptos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303F3D"/>
                </a:solidFill>
                <a:latin typeface="Aptos"/>
              </a:rPr>
              <a:t>Evaluation &amp; Tuning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713232" cy="64008"/>
          </a:xfrm>
          <a:prstGeom prst="rect">
            <a:avLst/>
          </a:prstGeom>
          <a:solidFill>
            <a:srgbClr val="E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6756F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00784"/>
            <a:ext cx="6720840" cy="443484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Evaluate models using training accuracy, test accuracy and 5-fold cross-validation.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Logistic Regression, SVM, Decision Tree and XGBoost achieved a test accuracy of 0.940.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Logistic Regression, SVM and Decision Tree achieved the highest 5-fold CV score: 0.933.</a:t>
            </a:r>
          </a:p>
          <a:p>
            <a:pPr>
              <a:spcAft>
                <a:spcPts val="1100"/>
              </a:spcAft>
              <a:defRPr sz="1600">
                <a:solidFill>
                  <a:srgbClr val="303F3D"/>
                </a:solidFill>
                <a:latin typeface="Aptos"/>
              </a:defRPr>
            </a:pPr>
            <a:r>
              <a:t>•  Models were compared using train accuracy, test accuracy and 5-fold cross-validation.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700784"/>
            <a:ext cx="3657600" cy="4251960"/>
          </a:xfrm>
          <a:prstGeom prst="roundRect">
            <a:avLst>
              <a:gd name="adj" fmla="val 14000"/>
            </a:avLst>
          </a:prstGeom>
          <a:solidFill>
            <a:srgbClr val="DAE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2" y="1975104"/>
            <a:ext cx="306324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303F3D"/>
                </a:solidFill>
                <a:latin typeface="Aptos"/>
              </a:rPr>
              <a:t>BEST SCORES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670048"/>
            <a:ext cx="2971800" cy="297180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Test accuracy: 0.940</a:t>
            </a:r>
          </a:p>
          <a:p>
            <a:pPr>
              <a:spcAft>
                <a:spcPts val="9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5-fold CV: 0.933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56F"/>
                </a:solidFill>
                <a:latin typeface="Aptos"/>
              </a:rPr>
              <a:t>CREDIT CARD FRAUD DETECTION  •  MACHINE LEARNING 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54864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C9D91"/>
                </a:solidFill>
                <a:latin typeface="Aptos"/>
              </a:rPr>
              <a:t>PROJECT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303F3D"/>
                </a:solidFill>
                <a:latin typeface="Aptos"/>
              </a:rPr>
              <a:t>Results &amp; Model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07592"/>
            <a:ext cx="713232" cy="64008"/>
          </a:xfrm>
          <a:prstGeom prst="rect">
            <a:avLst/>
          </a:prstGeom>
          <a:solidFill>
            <a:srgbClr val="E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66756F"/>
                </a:solidFill>
                <a:latin typeface="Aptos"/>
              </a:rP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691640"/>
          <a:ext cx="73152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1417320"/>
                <a:gridCol w="1417320"/>
                <a:gridCol w="1417320"/>
              </a:tblGrid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Algorithm</a:t>
                      </a:r>
                    </a:p>
                  </a:txBody>
                  <a:tcPr marL="109728" marR="73152" marT="54864" marB="36576">
                    <a:solidFill>
                      <a:srgbClr val="5C9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Train Acc.</a:t>
                      </a:r>
                    </a:p>
                  </a:txBody>
                  <a:tcPr marL="109728" marR="73152" marT="54864" marB="36576">
                    <a:solidFill>
                      <a:srgbClr val="5C9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Test Acc.</a:t>
                      </a:r>
                    </a:p>
                  </a:txBody>
                  <a:tcPr marL="109728" marR="73152" marT="54864" marB="36576">
                    <a:solidFill>
                      <a:srgbClr val="5C9D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5-Fold CV</a:t>
                      </a:r>
                    </a:p>
                  </a:txBody>
                  <a:tcPr marL="109728" marR="73152" marT="54864" marB="36576">
                    <a:solidFill>
                      <a:srgbClr val="5C9D91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03F3D"/>
                          </a:solidFill>
                          <a:latin typeface="Aptos"/>
                        </a:rPr>
                        <a:t>Logistic Regression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03F3D"/>
                          </a:solidFill>
                          <a:latin typeface="Aptos"/>
                        </a:rPr>
                        <a:t>0.931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03F3D"/>
                          </a:solidFill>
                          <a:latin typeface="Aptos"/>
                        </a:rPr>
                        <a:t>0.940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03F3D"/>
                          </a:solidFill>
                          <a:latin typeface="Aptos"/>
                        </a:rPr>
                        <a:t>0.933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03F3D"/>
                          </a:solidFill>
                          <a:latin typeface="Aptos"/>
                        </a:rPr>
                        <a:t>KNN</a:t>
                      </a:r>
                    </a:p>
                  </a:txBody>
                  <a:tcPr marL="109728" marR="73152" marT="54864" marB="36576">
                    <a:solidFill>
                      <a:srgbClr val="EF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03F3D"/>
                          </a:solidFill>
                          <a:latin typeface="Aptos"/>
                        </a:rPr>
                        <a:t>0.931</a:t>
                      </a:r>
                    </a:p>
                  </a:txBody>
                  <a:tcPr marL="109728" marR="73152" marT="54864" marB="36576">
                    <a:solidFill>
                      <a:srgbClr val="EF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03F3D"/>
                          </a:solidFill>
                          <a:latin typeface="Aptos"/>
                        </a:rPr>
                        <a:t>0.935</a:t>
                      </a:r>
                    </a:p>
                  </a:txBody>
                  <a:tcPr marL="109728" marR="73152" marT="54864" marB="36576">
                    <a:solidFill>
                      <a:srgbClr val="EF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03F3D"/>
                          </a:solidFill>
                          <a:latin typeface="Aptos"/>
                        </a:rPr>
                        <a:t>0.920</a:t>
                      </a:r>
                    </a:p>
                  </a:txBody>
                  <a:tcPr marL="109728" marR="73152" marT="54864" marB="36576">
                    <a:solidFill>
                      <a:srgbClr val="EFF4E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03F3D"/>
                          </a:solidFill>
                          <a:latin typeface="Aptos"/>
                        </a:rPr>
                        <a:t>SVM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03F3D"/>
                          </a:solidFill>
                          <a:latin typeface="Aptos"/>
                        </a:rPr>
                        <a:t>0.931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03F3D"/>
                          </a:solidFill>
                          <a:latin typeface="Aptos"/>
                        </a:rPr>
                        <a:t>0.940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03F3D"/>
                          </a:solidFill>
                          <a:latin typeface="Aptos"/>
                        </a:rPr>
                        <a:t>0.933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03F3D"/>
                          </a:solidFill>
                          <a:latin typeface="Aptos"/>
                        </a:rPr>
                        <a:t>Decision Tree</a:t>
                      </a:r>
                    </a:p>
                  </a:txBody>
                  <a:tcPr marL="109728" marR="73152" marT="54864" marB="36576">
                    <a:solidFill>
                      <a:srgbClr val="EF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03F3D"/>
                          </a:solidFill>
                          <a:latin typeface="Aptos"/>
                        </a:rPr>
                        <a:t>0.931</a:t>
                      </a:r>
                    </a:p>
                  </a:txBody>
                  <a:tcPr marL="109728" marR="73152" marT="54864" marB="36576">
                    <a:solidFill>
                      <a:srgbClr val="EF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03F3D"/>
                          </a:solidFill>
                          <a:latin typeface="Aptos"/>
                        </a:rPr>
                        <a:t>0.940</a:t>
                      </a:r>
                    </a:p>
                  </a:txBody>
                  <a:tcPr marL="109728" marR="73152" marT="54864" marB="36576">
                    <a:solidFill>
                      <a:srgbClr val="EFF4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03F3D"/>
                          </a:solidFill>
                          <a:latin typeface="Aptos"/>
                        </a:rPr>
                        <a:t>0.933</a:t>
                      </a:r>
                    </a:p>
                  </a:txBody>
                  <a:tcPr marL="109728" marR="73152" marT="54864" marB="36576">
                    <a:solidFill>
                      <a:srgbClr val="EFF4ED"/>
                    </a:solidFill>
                  </a:tcPr>
                </a:tc>
              </a:tr>
              <a:tr h="58674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03F3D"/>
                          </a:solidFill>
                          <a:latin typeface="Aptos"/>
                        </a:rPr>
                        <a:t>XGBoost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03F3D"/>
                          </a:solidFill>
                          <a:latin typeface="Aptos"/>
                        </a:rPr>
                        <a:t>0.945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03F3D"/>
                          </a:solidFill>
                          <a:latin typeface="Aptos"/>
                        </a:rPr>
                        <a:t>0.940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03F3D"/>
                          </a:solidFill>
                          <a:latin typeface="Aptos"/>
                        </a:rPr>
                        <a:t>0.923</a:t>
                      </a:r>
                    </a:p>
                  </a:txBody>
                  <a:tcPr marL="109728" marR="73152" marT="54864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12480" y="1691640"/>
            <a:ext cx="3063240" cy="3520440"/>
          </a:xfrm>
          <a:prstGeom prst="roundRect">
            <a:avLst>
              <a:gd name="adj" fmla="val 14000"/>
            </a:avLst>
          </a:prstGeom>
          <a:solidFill>
            <a:srgbClr val="FAE4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965960"/>
            <a:ext cx="256032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69680"/>
                </a:solidFill>
                <a:latin typeface="Aptos"/>
              </a:rPr>
              <a:t>KEY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8512" y="2487168"/>
            <a:ext cx="2514600" cy="2331720"/>
          </a:xfrm>
          <a:prstGeom prst="rect">
            <a:avLst/>
          </a:prstGeom>
          <a:noFill/>
        </p:spPr>
        <p:txBody>
          <a:bodyPr wrap="square" lIns="18288" rIns="27432" tIns="18288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Highest test accuracy: 0.940 (Logistic Regression, SVM, Decision Tree and XGBoost).</a:t>
            </a:r>
          </a:p>
          <a:p>
            <a:pPr>
              <a:spcAft>
                <a:spcPts val="1200"/>
              </a:spcAft>
              <a:defRPr sz="1300">
                <a:solidFill>
                  <a:srgbClr val="303F3D"/>
                </a:solidFill>
                <a:latin typeface="Aptos"/>
              </a:defRPr>
            </a:pPr>
            <a:r>
              <a:t>•  Highest 5-fold CV: 0.933 (Logistic Regression, SVM and Decision Tree).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440680"/>
            <a:ext cx="10515600" cy="5943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6756F"/>
                </a:solidFill>
                <a:latin typeface="Aptos"/>
              </a:rPr>
              <a:t>Tuned Decision Tree: Train 0.931, Test 0.940, CV 0.933. Tuned XGBoost: gamma=0.5, max_depth=3, n_estimators=20.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510528"/>
            <a:ext cx="8686800" cy="16459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6756F"/>
                </a:solidFill>
                <a:latin typeface="Aptos"/>
              </a:rPr>
              <a:t>CREDIT CARD FRAUD DETECTION  •  MACHINE LEARNING PROJECT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ED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658368"/>
            <a:ext cx="10835640" cy="5532120"/>
          </a:xfrm>
          <a:prstGeom prst="roundRect">
            <a:avLst>
              <a:gd name="adj" fmla="val 14000"/>
            </a:avLst>
          </a:prstGeom>
          <a:solidFill>
            <a:srgbClr val="F9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24128" y="987552"/>
            <a:ext cx="1005840" cy="109728"/>
          </a:xfrm>
          <a:prstGeom prst="rect">
            <a:avLst/>
          </a:prstGeom>
          <a:solidFill>
            <a:srgbClr val="E696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149840" y="5623560"/>
            <a:ext cx="960120" cy="109728"/>
          </a:xfrm>
          <a:prstGeom prst="rect">
            <a:avLst/>
          </a:prstGeom>
          <a:solidFill>
            <a:srgbClr val="897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057400"/>
            <a:ext cx="9601200" cy="8229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303F3D"/>
                </a:solidFill>
                <a:latin typeface="Aptos"/>
              </a:rPr>
              <a:t>Any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337560"/>
            <a:ext cx="9601200" cy="82296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5C9D91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